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Freight Booking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Data Flow Architecture &amp; EDI X12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Consolas"/>
              </a:defRPr>
            </a:pPr>
            <a:r>
              <a:t>1. System Overview</a:t>
            </a:r>
          </a:p>
          <a:p>
            <a:pPr>
              <a:defRPr sz="2000">
                <a:latin typeface="Consolas"/>
              </a:defRPr>
            </a:pPr>
          </a:p>
          <a:p>
            <a:pPr>
              <a:defRPr sz="2000">
                <a:latin typeface="Consolas"/>
              </a:defRPr>
            </a:pPr>
            <a:r>
              <a:t>2. EDI X12 Transaction Sets</a:t>
            </a:r>
          </a:p>
          <a:p>
            <a:pPr>
              <a:defRPr sz="2000">
                <a:latin typeface="Consolas"/>
              </a:defRPr>
            </a:pPr>
          </a:p>
          <a:p>
            <a:pPr>
              <a:defRPr sz="2000">
                <a:latin typeface="Consolas"/>
              </a:defRPr>
            </a:pPr>
            <a:r>
              <a:t>3. System Context Diagram (Level 0)</a:t>
            </a:r>
          </a:p>
          <a:p>
            <a:pPr>
              <a:defRPr sz="2000">
                <a:latin typeface="Consolas"/>
              </a:defRPr>
            </a:pPr>
          </a:p>
          <a:p>
            <a:pPr>
              <a:defRPr sz="2000">
                <a:latin typeface="Consolas"/>
              </a:defRPr>
            </a:pPr>
            <a:r>
              <a:t>4. Data Flow Diagram (Level 1)</a:t>
            </a:r>
          </a:p>
          <a:p>
            <a:pPr>
              <a:defRPr sz="2000">
                <a:latin typeface="Consolas"/>
              </a:defRPr>
            </a:pPr>
          </a:p>
          <a:p>
            <a:pPr>
              <a:defRPr sz="2000">
                <a:latin typeface="Consolas"/>
              </a:defRPr>
            </a:pPr>
            <a:r>
              <a:t>5. Booking Lifecycle Flow</a:t>
            </a:r>
          </a:p>
          <a:p>
            <a:pPr>
              <a:defRPr sz="2000">
                <a:latin typeface="Consolas"/>
              </a:defRPr>
            </a:pPr>
          </a:p>
          <a:p>
            <a:pPr>
              <a:defRPr sz="2000">
                <a:latin typeface="Consolas"/>
              </a:defRPr>
            </a:pPr>
            <a:r>
              <a:t>6. EDI Processing Flows</a:t>
            </a:r>
          </a:p>
          <a:p>
            <a:pPr>
              <a:defRPr sz="2000">
                <a:latin typeface="Consolas"/>
              </a:defRPr>
            </a:pPr>
          </a:p>
          <a:p>
            <a:pPr>
              <a:defRPr sz="2000">
                <a:latin typeface="Consolas"/>
              </a:defRPr>
            </a:pPr>
            <a:r>
              <a:t>7. Data Stores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nsolas"/>
              </a:defRPr>
            </a:pPr>
            <a:r>
              <a:t>PURPOSE:</a:t>
            </a:r>
          </a:p>
          <a:p>
            <a:pPr>
              <a:defRPr sz="1600">
                <a:latin typeface="Consolas"/>
              </a:defRPr>
            </a:pPr>
            <a:r>
              <a:t>  B2B booking portal for freight forwarding customers (shippers)</a:t>
            </a:r>
          </a:p>
          <a:p>
            <a:pPr>
              <a:defRPr sz="1600">
                <a:latin typeface="Consolas"/>
              </a:defRPr>
            </a:pPr>
            <a:r>
              <a:t>  Submit multi-modal freight bookings with automated carrier EDI</a:t>
            </a:r>
          </a:p>
          <a:p>
            <a:pPr>
              <a:defRPr sz="1600">
                <a:latin typeface="Consolas"/>
              </a:defRPr>
            </a:pPr>
          </a:p>
          <a:p>
            <a:pPr>
              <a:defRPr sz="1600">
                <a:latin typeface="Consolas"/>
              </a:defRPr>
            </a:pPr>
            <a:r>
              <a:t>KEY CAPABILITIES:</a:t>
            </a:r>
          </a:p>
          <a:p>
            <a:pPr>
              <a:defRPr sz="1600">
                <a:latin typeface="Consolas"/>
              </a:defRPr>
            </a:pPr>
            <a:r>
              <a:t>  • Multi-modal support: Ocean FCL/LCL, Air Freight, Road/Trucking</a:t>
            </a:r>
          </a:p>
          <a:p>
            <a:pPr>
              <a:defRPr sz="1600">
                <a:latin typeface="Consolas"/>
              </a:defRPr>
            </a:pPr>
            <a:r>
              <a:t>  • Customer-configurable approval workflows</a:t>
            </a:r>
          </a:p>
          <a:p>
            <a:pPr>
              <a:defRPr sz="1600">
                <a:latin typeface="Consolas"/>
              </a:defRPr>
            </a:pPr>
            <a:r>
              <a:t>  • EDI ANSI X12 carrier integration (AS2/SFTP)</a:t>
            </a:r>
          </a:p>
          <a:p>
            <a:pPr>
              <a:defRPr sz="1600">
                <a:latin typeface="Consolas"/>
              </a:defRPr>
            </a:pPr>
            <a:r>
              <a:t>  • Document management with Azure Blob storage</a:t>
            </a:r>
          </a:p>
          <a:p>
            <a:pPr>
              <a:defRPr sz="1600">
                <a:latin typeface="Consolas"/>
              </a:defRPr>
            </a:pPr>
            <a:r>
              <a:t>  • Email notifications for status changes</a:t>
            </a:r>
          </a:p>
          <a:p>
            <a:pPr>
              <a:defRPr sz="1600">
                <a:latin typeface="Consolas"/>
              </a:defRPr>
            </a:pPr>
            <a:r>
              <a:t>  • Complete audit trail</a:t>
            </a:r>
          </a:p>
          <a:p>
            <a:pPr>
              <a:defRPr sz="1600">
                <a:latin typeface="Consolas"/>
              </a:defRPr>
            </a:pPr>
          </a:p>
          <a:p>
            <a:pPr>
              <a:defRPr sz="1600">
                <a:latin typeface="Consolas"/>
              </a:defRPr>
            </a:pPr>
            <a:r>
              <a:t>TECHNOLOGY STACK:</a:t>
            </a:r>
          </a:p>
          <a:p>
            <a:pPr>
              <a:defRPr sz="1600">
                <a:latin typeface="Consolas"/>
              </a:defRPr>
            </a:pPr>
            <a:r>
              <a:t>  • Backend: Python/Django + Django REST Framework</a:t>
            </a:r>
          </a:p>
          <a:p>
            <a:pPr>
              <a:defRPr sz="1600">
                <a:latin typeface="Consolas"/>
              </a:defRPr>
            </a:pPr>
            <a:r>
              <a:t>  • Database: SQL Server</a:t>
            </a:r>
          </a:p>
          <a:p>
            <a:pPr>
              <a:defRPr sz="1600">
                <a:latin typeface="Consolas"/>
              </a:defRPr>
            </a:pPr>
            <a:r>
              <a:t>  • Frontend: React with TypeScript</a:t>
            </a:r>
          </a:p>
          <a:p>
            <a:pPr>
              <a:defRPr sz="1600">
                <a:latin typeface="Consolas"/>
              </a:defRPr>
            </a:pPr>
            <a:r>
              <a:t>  • Task Queue: Celery + Redis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EDI ANSI X12 Transaction 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EDI X12 Transaction Sets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Transaction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X12 300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Reservation (Booking Request)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Ocean booking request to carrier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X12 301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Confirmation (Ocean)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Carrier booking confirmation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X12 304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Shipping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lading instructions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X12 204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Motor Carrier Load Tender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Trucking booking request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X12 990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Response to Load Tender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Trucking acceptance/rejection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X12 214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Shipment Status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Tracking/milestone updates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X12 210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Freight Invoice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Carrier billing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X12 997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Functional Acknowledgment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EDI receipt confirmation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Context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System Context Diagram (Level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nsolas"/>
              </a:defRPr>
            </a:pPr>
            <a:r>
              <a:t>                         EXTERNAL ENTITIES</a:t>
            </a:r>
          </a:p>
          <a:p>
            <a:pPr>
              <a:defRPr sz="1100">
                <a:latin typeface="Consolas"/>
              </a:defRPr>
            </a:pPr>
            <a:r>
              <a:t>    ┌──────────────┐    ┌──────────────┐    ┌──────────────┐</a:t>
            </a:r>
          </a:p>
          <a:p>
            <a:pPr>
              <a:defRPr sz="1100">
                <a:latin typeface="Consolas"/>
              </a:defRPr>
            </a:pPr>
            <a:r>
              <a:t>    │   SHIPPER    │    │   CARRIER    │    │  CONSIGNEE   │</a:t>
            </a:r>
          </a:p>
          <a:p>
            <a:pPr>
              <a:defRPr sz="1100">
                <a:latin typeface="Consolas"/>
              </a:defRPr>
            </a:pPr>
            <a:r>
              <a:t>    │  (Customer)  │    │  (Shipping   │    │  (Receiver)  │</a:t>
            </a:r>
          </a:p>
          <a:p>
            <a:pPr>
              <a:defRPr sz="1100">
                <a:latin typeface="Consolas"/>
              </a:defRPr>
            </a:pPr>
            <a:r>
              <a:t>    │              │    │   Line/Air/  │    │              │</a:t>
            </a:r>
          </a:p>
          <a:p>
            <a:pPr>
              <a:defRPr sz="1100">
                <a:latin typeface="Consolas"/>
              </a:defRPr>
            </a:pPr>
            <a:r>
              <a:t>    │              │    │   Trucking)  │    │              │</a:t>
            </a:r>
          </a:p>
          <a:p>
            <a:pPr>
              <a:defRPr sz="1100">
                <a:latin typeface="Consolas"/>
              </a:defRPr>
            </a:pPr>
            <a:r>
              <a:t>    └──────┬───────┘    └──────┬───────┘    └──────┬───────┘</a:t>
            </a:r>
          </a:p>
          <a:p>
            <a:pPr>
              <a:defRPr sz="1100">
                <a:latin typeface="Consolas"/>
              </a:defRPr>
            </a:pPr>
            <a:r>
              <a:t>           │                   │                   │</a:t>
            </a:r>
          </a:p>
          <a:p>
            <a:pPr>
              <a:defRPr sz="1100">
                <a:latin typeface="Consolas"/>
              </a:defRPr>
            </a:pPr>
            <a:r>
              <a:t>           │ Web Portal        │ EDI X12           │ Email</a:t>
            </a:r>
          </a:p>
          <a:p>
            <a:pPr>
              <a:defRPr sz="1100">
                <a:latin typeface="Consolas"/>
              </a:defRPr>
            </a:pPr>
            <a:r>
              <a:t>           │ (HTTPS/JSON)      │ (AS2/SFTP)        │ Notifications</a:t>
            </a:r>
          </a:p>
          <a:p>
            <a:pPr>
              <a:defRPr sz="1100">
                <a:latin typeface="Consolas"/>
              </a:defRPr>
            </a:pPr>
            <a:r>
              <a:t>           │                   │                   │</a:t>
            </a:r>
          </a:p>
          <a:p>
            <a:pPr>
              <a:defRPr sz="1100">
                <a:latin typeface="Consolas"/>
              </a:defRPr>
            </a:pPr>
            <a:r>
              <a:t>           ▼                   ▼                   ▼</a:t>
            </a:r>
          </a:p>
          <a:p>
            <a:pPr>
              <a:defRPr sz="1100">
                <a:latin typeface="Consolas"/>
              </a:defRPr>
            </a:pPr>
            <a:r>
              <a:t>    ╔═══════════════════════════════════════════════════════╗</a:t>
            </a:r>
          </a:p>
          <a:p>
            <a:pPr>
              <a:defRPr sz="1100">
                <a:latin typeface="Consolas"/>
              </a:defRPr>
            </a:pPr>
            <a:r>
              <a:t>    ║     FREIGHT BOOKING MANAGEMENT SYSTEM                 ║</a:t>
            </a:r>
          </a:p>
          <a:p>
            <a:pPr>
              <a:defRPr sz="1100">
                <a:latin typeface="Consolas"/>
              </a:defRPr>
            </a:pPr>
            <a:r>
              <a:t>    ║  ┌─────────┐  ┌─────────┐  ┌─────────────┐           ║</a:t>
            </a:r>
          </a:p>
          <a:p>
            <a:pPr>
              <a:defRPr sz="1100">
                <a:latin typeface="Consolas"/>
              </a:defRPr>
            </a:pPr>
            <a:r>
              <a:t>    ║  │ Web API │  │   EDI   │  │Notification │           ║</a:t>
            </a:r>
          </a:p>
          <a:p>
            <a:pPr>
              <a:defRPr sz="1100">
                <a:latin typeface="Consolas"/>
              </a:defRPr>
            </a:pPr>
            <a:r>
              <a:t>    ║  │  Layer  │  │ Gateway │  │   Service   │           ║</a:t>
            </a:r>
          </a:p>
          <a:p>
            <a:pPr>
              <a:defRPr sz="1100">
                <a:latin typeface="Consolas"/>
              </a:defRPr>
            </a:pPr>
            <a:r>
              <a:t>    ║  └─────────┘  └─────────┘  └─────────────┘           ║</a:t>
            </a:r>
          </a:p>
          <a:p>
            <a:pPr>
              <a:defRPr sz="1100">
                <a:latin typeface="Consolas"/>
              </a:defRPr>
            </a:pPr>
            <a:r>
              <a:t>    ╚═══════════════════════════════════════════════════════╝</a:t>
            </a:r>
          </a:p>
          <a:p>
            <a:pPr>
              <a:defRPr sz="1100">
                <a:latin typeface="Consolas"/>
              </a:defRPr>
            </a:pPr>
            <a:r>
              <a:t>           │                   │                   │</a:t>
            </a:r>
          </a:p>
          <a:p>
            <a:pPr>
              <a:defRPr sz="1100">
                <a:latin typeface="Consolas"/>
              </a:defRPr>
            </a:pPr>
            <a:r>
              <a:t>           ▼                   ▼                   ▼</a:t>
            </a:r>
          </a:p>
          <a:p>
            <a:pPr>
              <a:defRPr sz="1100">
                <a:latin typeface="Consolas"/>
              </a:defRPr>
            </a:pPr>
            <a:r>
              <a:t>    ┌──────────────┐    ┌──────────────┐    ┌──────────────┐</a:t>
            </a:r>
          </a:p>
          <a:p>
            <a:pPr>
              <a:defRPr sz="1100">
                <a:latin typeface="Consolas"/>
              </a:defRPr>
            </a:pPr>
            <a:r>
              <a:t>    │  SQL Server  │    │ Azure Blob   │    │    Redis     │</a:t>
            </a:r>
          </a:p>
          <a:p>
            <a:pPr>
              <a:defRPr sz="1100">
                <a:latin typeface="Consolas"/>
              </a:defRPr>
            </a:pPr>
            <a:r>
              <a:t>    │   Database   │    │   Storage    │    │   (Queue)    │</a:t>
            </a:r>
          </a:p>
          <a:p>
            <a:pPr>
              <a:defRPr sz="1100">
                <a:latin typeface="Consolas"/>
              </a:defRPr>
            </a:pPr>
            <a:r>
              <a:t>    └──────────────┘    └──────────────┘    └──────────────┘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Flow Diagram (Level 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Flow -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                              I N P U T S</a:t>
            </a:r>
          </a:p>
          <a:p>
            <a:pPr>
              <a:defRPr sz="1300">
                <a:latin typeface="Consolas"/>
              </a:defRPr>
            </a:pPr>
          </a:p>
          <a:p>
            <a:pPr>
              <a:defRPr sz="1300">
                <a:latin typeface="Consolas"/>
              </a:defRPr>
            </a:pPr>
            <a:r>
              <a:t>  ┌─────────────────┐    ┌─────────────────┐    ┌─────────────────┐</a:t>
            </a:r>
          </a:p>
          <a:p>
            <a:pPr>
              <a:defRPr sz="1300">
                <a:latin typeface="Consolas"/>
              </a:defRPr>
            </a:pPr>
            <a:r>
              <a:t>  │ SHIPPER INPUT   │    │ CARRIER INPUT   │    │ SYSTEM INPUT    │</a:t>
            </a:r>
          </a:p>
          <a:p>
            <a:pPr>
              <a:defRPr sz="1300">
                <a:latin typeface="Consolas"/>
              </a:defRPr>
            </a:pPr>
            <a:r>
              <a:t>  │                 │    │ (EDI Inbound)   │    │                 │</a:t>
            </a:r>
          </a:p>
          <a:p>
            <a:pPr>
              <a:defRPr sz="1300">
                <a:latin typeface="Consolas"/>
              </a:defRPr>
            </a:pPr>
            <a:r>
              <a:t>  │ • Booking Data  │    │                 │    │ • Master Data   │</a:t>
            </a:r>
          </a:p>
          <a:p>
            <a:pPr>
              <a:defRPr sz="1300">
                <a:latin typeface="Consolas"/>
              </a:defRPr>
            </a:pPr>
            <a:r>
              <a:t>  │ • Cargo Details │    │ • X12 301 Conf  │    │   (Locations,   │</a:t>
            </a:r>
          </a:p>
          <a:p>
            <a:pPr>
              <a:defRPr sz="1300">
                <a:latin typeface="Consolas"/>
              </a:defRPr>
            </a:pPr>
            <a:r>
              <a:t>  │ • Party Info    │    │ • X12 990 Resp  │    │    Carriers)    │</a:t>
            </a:r>
          </a:p>
          <a:p>
            <a:pPr>
              <a:defRPr sz="1300">
                <a:latin typeface="Consolas"/>
              </a:defRPr>
            </a:pPr>
            <a:r>
              <a:t>  │ • Documents     │    │ • X12 214 Status│    │ • User Accounts │</a:t>
            </a:r>
          </a:p>
          <a:p>
            <a:pPr>
              <a:defRPr sz="1300">
                <a:latin typeface="Consolas"/>
              </a:defRPr>
            </a:pPr>
            <a:r>
              <a:t>  │ • Instructions  │    │ • X12 210 Inv   │    │ • Workflow Cfg  │</a:t>
            </a:r>
          </a:p>
          <a:p>
            <a:pPr>
              <a:defRPr sz="1300">
                <a:latin typeface="Consolas"/>
              </a:defRPr>
            </a:pPr>
            <a:r>
              <a:t>  │                 │    │ • X12 997 Ack   │    │                 │</a:t>
            </a:r>
          </a:p>
          <a:p>
            <a:pPr>
              <a:defRPr sz="1300">
                <a:latin typeface="Consolas"/>
              </a:defRPr>
            </a:pPr>
            <a:r>
              <a:t>  └─────────────────┘    └─────────────────┘    └─────────────────┘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Flow -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                        P R O C E S S I N G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  1. BOOKING MANAGEMENT</a:t>
            </a:r>
          </a:p>
          <a:p>
            <a:pPr>
              <a:defRPr sz="1400">
                <a:latin typeface="Consolas"/>
              </a:defRPr>
            </a:pPr>
            <a:r>
              <a:t>     [Validate] ─▶ [Create/Update] ─▶ [Apply Rules] ─▶ [Generate #]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  2. WORKFLOW ENGINE</a:t>
            </a:r>
          </a:p>
          <a:p>
            <a:pPr>
              <a:defRPr sz="1400">
                <a:latin typeface="Consolas"/>
              </a:defRPr>
            </a:pPr>
            <a:r>
              <a:t>     [Match Config] ─▶ [Create Steps] ─▶ [Process Decision] ─▶ [Update Status]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  3. EDI GATEWAY</a:t>
            </a:r>
          </a:p>
          <a:p>
            <a:pPr>
              <a:defRPr sz="1400">
                <a:latin typeface="Consolas"/>
              </a:defRPr>
            </a:pPr>
            <a:r>
              <a:t>     [Map to X12] ─▶ [Generate Envelope] ─▶ [Transmit AS2/SFTP] ─▶ [Parse Inbound]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  4. DOCUMENT MANAGEMENT</a:t>
            </a:r>
          </a:p>
          <a:p>
            <a:pPr>
              <a:defRPr sz="1400">
                <a:latin typeface="Consolas"/>
              </a:defRPr>
            </a:pPr>
            <a:r>
              <a:t>     [Validate Type] ─▶ [Store Azure Blob] ─▶ [Generate Access URLs]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  5. NOTIFICATION ENGINE</a:t>
            </a:r>
          </a:p>
          <a:p>
            <a:pPr>
              <a:defRPr sz="1400">
                <a:latin typeface="Consolas"/>
              </a:defRPr>
            </a:pPr>
            <a:r>
              <a:t>     [Queue Event] ─▶ [Render Template] ─▶ [Send via SMTP]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Flow -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                              O U T P U T S</a:t>
            </a:r>
          </a:p>
          <a:p>
            <a:pPr>
              <a:defRPr sz="1300">
                <a:latin typeface="Consolas"/>
              </a:defRPr>
            </a:pPr>
          </a:p>
          <a:p>
            <a:pPr>
              <a:defRPr sz="1300">
                <a:latin typeface="Consolas"/>
              </a:defRPr>
            </a:pPr>
            <a:r>
              <a:t>  ┌─────────────────┐    ┌─────────────────┐    ┌─────────────────┐</a:t>
            </a:r>
          </a:p>
          <a:p>
            <a:pPr>
              <a:defRPr sz="1300">
                <a:latin typeface="Consolas"/>
              </a:defRPr>
            </a:pPr>
            <a:r>
              <a:t>  │ TO SHIPPER      │    │ TO CARRIER      │    │ TO INTERNAL     │</a:t>
            </a:r>
          </a:p>
          <a:p>
            <a:pPr>
              <a:defRPr sz="1300">
                <a:latin typeface="Consolas"/>
              </a:defRPr>
            </a:pPr>
            <a:r>
              <a:t>  │                 │    │ (EDI Outbound)  │    │                 │</a:t>
            </a:r>
          </a:p>
          <a:p>
            <a:pPr>
              <a:defRPr sz="1300">
                <a:latin typeface="Consolas"/>
              </a:defRPr>
            </a:pPr>
            <a:r>
              <a:t>  │ • Booking Conf  │    │                 │    │ • Audit Logs    │</a:t>
            </a:r>
          </a:p>
          <a:p>
            <a:pPr>
              <a:defRPr sz="1300">
                <a:latin typeface="Consolas"/>
              </a:defRPr>
            </a:pPr>
            <a:r>
              <a:t>  │ • Status Updates│    │ • X12 300 Book  │    │ • Reports       │</a:t>
            </a:r>
          </a:p>
          <a:p>
            <a:pPr>
              <a:defRPr sz="1300">
                <a:latin typeface="Consolas"/>
              </a:defRPr>
            </a:pPr>
            <a:r>
              <a:t>  │ • Email Alerts  │    │ • X12 304 SI    │    │ • Dashboards    │</a:t>
            </a:r>
          </a:p>
          <a:p>
            <a:pPr>
              <a:defRPr sz="1300">
                <a:latin typeface="Consolas"/>
              </a:defRPr>
            </a:pPr>
            <a:r>
              <a:t>  │ • Documents     │    │ • X12 204 Tender│    │ • Analytics     │</a:t>
            </a:r>
          </a:p>
          <a:p>
            <a:pPr>
              <a:defRPr sz="1300">
                <a:latin typeface="Consolas"/>
              </a:defRPr>
            </a:pPr>
            <a:r>
              <a:t>  │ • Tracking Info │    │ • X12 997 Ack   │    │                 │</a:t>
            </a:r>
          </a:p>
          <a:p>
            <a:pPr>
              <a:defRPr sz="1300">
                <a:latin typeface="Consolas"/>
              </a:defRPr>
            </a:pPr>
            <a:r>
              <a:t>  │                 │    │                 │    │                 │</a:t>
            </a:r>
          </a:p>
          <a:p>
            <a:pPr>
              <a:defRPr sz="1300">
                <a:latin typeface="Consolas"/>
              </a:defRPr>
            </a:pPr>
            <a:r>
              <a:t>  └─────────────────┘    └─────────────────┘    └─────────────────┘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Booking Lifecycle 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Booking Lifecycle -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  SHIPPER              SYSTEM                 CARRIER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1. Create Booking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│───────────────────▶│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┌────┴────┐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  DRAFT  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└────┬────┘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2. Add Cargo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3. Upload Docs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4. Submit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│───────────────────▶│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┌────┴────┐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│VALIDATE 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│&amp; CHECK  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│WORKFLOW 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└────┬────┘                 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Booking Lifecycle - Approval &amp; EDI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  SHIPPER              SYSTEM                 CARRIER (EDI)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┌────┴────┐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│PENDING_ 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│APPROVAL 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└────┬────┘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│◀──Email: Approval──│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Required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[Approver Action]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┌────┴────┐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│APPROVED 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└────┬────┘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│◀──Email: Approved──│  5. Send X12 300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│─────────────────────▶│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Booking Lifecycle - Carrier Confirmation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  SHIPPER              SYSTEM                 CARRIER (EDI)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6. Receive X12 997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│◀─────────────────────│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[Functional Ack]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┌────┴────┐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│SUBMITTED│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│TO_CARRIER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└────┬────┘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7. Receive X12 301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│◀─────────────────────│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[Booking Confirm]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┌────┴────┐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│CONFIRMED│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└────┬────┘                 │</a:t>
            </a:r>
          </a:p>
          <a:p>
            <a:pPr>
              <a:defRPr sz="1200">
                <a:latin typeface="Consolas"/>
              </a:defRPr>
            </a:pPr>
            <a:r>
              <a:t>     │◀──Email: Confirmed─│                      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Booking Lifecycle - Tracking &amp;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  SHIPPER              SYSTEM                 CARRIER (EDI)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8. Receive X12 214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│◀─────────────────────│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[Status Updates]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┌────┴────┐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│IN_TRANSIT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└────┬────┘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│◀──Email: Updates───│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9. Final X12 214  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│◀─────────────────────│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[Delivery Confirm]  │</a:t>
            </a:r>
          </a:p>
          <a:p>
            <a:pPr>
              <a:defRPr sz="1200">
                <a:latin typeface="Consolas"/>
              </a:defRPr>
            </a:pPr>
            <a:r>
              <a:t>     │                    │     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┌────┴────┐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│DELIVERED│                 │</a:t>
            </a:r>
          </a:p>
          <a:p>
            <a:pPr>
              <a:defRPr sz="1200">
                <a:latin typeface="Consolas"/>
              </a:defRPr>
            </a:pPr>
            <a:r>
              <a:t>     │               └────┬────┘                 │</a:t>
            </a:r>
          </a:p>
          <a:p>
            <a:pPr>
              <a:defRPr sz="1200">
                <a:latin typeface="Consolas"/>
              </a:defRPr>
            </a:pPr>
            <a:r>
              <a:t>     │◀──Email: Delivered─│                      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EDI Processing Flows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EDI Outbound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nsolas"/>
              </a:defRPr>
            </a:pPr>
            <a:r>
              <a:t>                    EDI OUTBOUND PROCESSING FLOW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┌─────────────┐   ┌─────────────┐   ┌─────────────┐   ┌─────────────┐</a:t>
            </a:r>
          </a:p>
          <a:p>
            <a:pPr>
              <a:defRPr sz="1100">
                <a:latin typeface="Consolas"/>
              </a:defRPr>
            </a:pPr>
            <a:r>
              <a:t>  │   Booking   │   │     EDI     │   │     EDI     │   │   Carrier   │</a:t>
            </a:r>
          </a:p>
          <a:p>
            <a:pPr>
              <a:defRPr sz="1100">
                <a:latin typeface="Consolas"/>
              </a:defRPr>
            </a:pPr>
            <a:r>
              <a:t>  │   Approved  │──▶│    Mapper   │──▶│  Transmit   │──▶│   System    │</a:t>
            </a:r>
          </a:p>
          <a:p>
            <a:pPr>
              <a:defRPr sz="1100">
                <a:latin typeface="Consolas"/>
              </a:defRPr>
            </a:pPr>
            <a:r>
              <a:t>  │    Event    │   │   Service   │   │   Service   │   │ (AS2/SFTP)  │</a:t>
            </a:r>
          </a:p>
          <a:p>
            <a:pPr>
              <a:defRPr sz="1100">
                <a:latin typeface="Consolas"/>
              </a:defRPr>
            </a:pPr>
            <a:r>
              <a:t>  └─────────────┘   └─────────────┘   └─────────────┘   └─────────────┘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Processing Steps:</a:t>
            </a:r>
          </a:p>
          <a:p>
            <a:pPr>
              <a:defRPr sz="1100"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>
                <a:latin typeface="Consolas"/>
              </a:defRPr>
            </a:pPr>
            <a:r>
              <a:t>  1. Booking status changes to APPROVED</a:t>
            </a:r>
          </a:p>
          <a:p>
            <a:pPr>
              <a:defRPr sz="1100">
                <a:latin typeface="Consolas"/>
              </a:defRPr>
            </a:pPr>
            <a:r>
              <a:t>  2. System triggers EDI generation job</a:t>
            </a:r>
          </a:p>
          <a:p>
            <a:pPr>
              <a:defRPr sz="1100">
                <a:latin typeface="Consolas"/>
              </a:defRPr>
            </a:pPr>
            <a:r>
              <a:t>  3. EDI Mapper loads booking + related data</a:t>
            </a:r>
          </a:p>
          <a:p>
            <a:pPr>
              <a:defRPr sz="1100">
                <a:latin typeface="Consolas"/>
              </a:defRPr>
            </a:pPr>
            <a:r>
              <a:t>  4. Maps internal fields to X12 segments</a:t>
            </a:r>
          </a:p>
          <a:p>
            <a:pPr>
              <a:defRPr sz="1100">
                <a:latin typeface="Consolas"/>
              </a:defRPr>
            </a:pPr>
            <a:r>
              <a:t>  5. Generates ISA/GS/ST envelope with control numbers</a:t>
            </a:r>
          </a:p>
          <a:p>
            <a:pPr>
              <a:defRPr sz="1100">
                <a:latin typeface="Consolas"/>
              </a:defRPr>
            </a:pPr>
            <a:r>
              <a:t>  6. Validates EDI syntax</a:t>
            </a:r>
          </a:p>
          <a:p>
            <a:pPr>
              <a:defRPr sz="1100">
                <a:latin typeface="Consolas"/>
              </a:defRPr>
            </a:pPr>
            <a:r>
              <a:t>  7. Queues for transmission</a:t>
            </a:r>
          </a:p>
          <a:p>
            <a:pPr>
              <a:defRPr sz="1100">
                <a:latin typeface="Consolas"/>
              </a:defRPr>
            </a:pPr>
            <a:r>
              <a:t>  8. Transmit via AS2 (preferred) or SFTP</a:t>
            </a:r>
          </a:p>
          <a:p>
            <a:pPr>
              <a:defRPr sz="1100">
                <a:latin typeface="Consolas"/>
              </a:defRPr>
            </a:pPr>
            <a:r>
              <a:t>  9. Log transmission status</a:t>
            </a:r>
          </a:p>
          <a:p>
            <a:pPr>
              <a:defRPr sz="1100">
                <a:latin typeface="Consolas"/>
              </a:defRPr>
            </a:pPr>
            <a:r>
              <a:t> 10. Update booking.status = SUBMITTED_TO_CARRIER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EDI Inbound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nsolas"/>
              </a:defRPr>
            </a:pPr>
            <a:r>
              <a:t>                    EDI INBOUND PROCESSING FLOW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┌─────────────┐   ┌─────────────┐   ┌─────────────┐   ┌─────────────┐</a:t>
            </a:r>
          </a:p>
          <a:p>
            <a:pPr>
              <a:defRPr sz="1100">
                <a:latin typeface="Consolas"/>
              </a:defRPr>
            </a:pPr>
            <a:r>
              <a:t>  │   Carrier   │   │     EDI     │   │     EDI     │   │   Booking   │</a:t>
            </a:r>
          </a:p>
          <a:p>
            <a:pPr>
              <a:defRPr sz="1100">
                <a:latin typeface="Consolas"/>
              </a:defRPr>
            </a:pPr>
            <a:r>
              <a:t>  │   System    │──▶│  Receiver   │──▶│   Parser    │──▶│   Updater   │</a:t>
            </a:r>
          </a:p>
          <a:p>
            <a:pPr>
              <a:defRPr sz="1100">
                <a:latin typeface="Consolas"/>
              </a:defRPr>
            </a:pPr>
            <a:r>
              <a:t>  │ (AS2/SFTP)  │   │   Service   │   │   Service   │   │   Service   │</a:t>
            </a:r>
          </a:p>
          <a:p>
            <a:pPr>
              <a:defRPr sz="1100">
                <a:latin typeface="Consolas"/>
              </a:defRPr>
            </a:pPr>
            <a:r>
              <a:t>  └─────────────┘   └─────────────┘   └─────────────┘   └─────────────┘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Processing Steps:</a:t>
            </a:r>
          </a:p>
          <a:p>
            <a:pPr>
              <a:defRPr sz="1100"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>
                <a:latin typeface="Consolas"/>
              </a:defRPr>
            </a:pPr>
            <a:r>
              <a:t>  1. Receive EDI file via AS2/SFTP polling</a:t>
            </a:r>
          </a:p>
          <a:p>
            <a:pPr>
              <a:defRPr sz="1100">
                <a:latin typeface="Consolas"/>
              </a:defRPr>
            </a:pPr>
            <a:r>
              <a:t>  2. Store raw file with timestamp and source identifier</a:t>
            </a:r>
          </a:p>
          <a:p>
            <a:pPr>
              <a:defRPr sz="1100">
                <a:latin typeface="Consolas"/>
              </a:defRPr>
            </a:pPr>
            <a:r>
              <a:t>  3. Parse ISA/GS/ST envelope, extract control numbers</a:t>
            </a:r>
          </a:p>
          <a:p>
            <a:pPr>
              <a:defRPr sz="1100">
                <a:latin typeface="Consolas"/>
              </a:defRPr>
            </a:pPr>
            <a:r>
              <a:t>  4. Identify transaction type (301, 214, 210, etc.)</a:t>
            </a:r>
          </a:p>
          <a:p>
            <a:pPr>
              <a:defRPr sz="1100">
                <a:latin typeface="Consolas"/>
              </a:defRPr>
            </a:pPr>
            <a:r>
              <a:t>  5. Parse transaction segments into structured data</a:t>
            </a:r>
          </a:p>
          <a:p>
            <a:pPr>
              <a:defRPr sz="1100">
                <a:latin typeface="Consolas"/>
              </a:defRPr>
            </a:pPr>
            <a:r>
              <a:t>  6. Match to internal booking (via booking # or carrier ref)</a:t>
            </a:r>
          </a:p>
          <a:p>
            <a:pPr>
              <a:defRPr sz="1100">
                <a:latin typeface="Consolas"/>
              </a:defRPr>
            </a:pPr>
            <a:r>
              <a:t>  7. Apply updates to booking record</a:t>
            </a:r>
          </a:p>
          <a:p>
            <a:pPr>
              <a:defRPr sz="1100">
                <a:latin typeface="Consolas"/>
              </a:defRPr>
            </a:pPr>
            <a:r>
              <a:t>  8. Log changes to audit trail</a:t>
            </a:r>
          </a:p>
          <a:p>
            <a:pPr>
              <a:defRPr sz="1100">
                <a:latin typeface="Consolas"/>
              </a:defRPr>
            </a:pPr>
            <a:r>
              <a:t>  9. Generate X12 997 Functional Acknowledgment</a:t>
            </a:r>
          </a:p>
          <a:p>
            <a:pPr>
              <a:defRPr sz="1100">
                <a:latin typeface="Consolas"/>
              </a:defRPr>
            </a:pPr>
            <a:r>
              <a:t> 10. Transmit 997 back to carrier</a:t>
            </a:r>
          </a:p>
          <a:p>
            <a:pPr>
              <a:defRPr sz="1100">
                <a:latin typeface="Consolas"/>
              </a:defRPr>
            </a:pPr>
            <a:r>
              <a:t> 11. Trigger notifications to shipper if status changed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Stores Overview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Stores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nsolas"/>
              </a:defRPr>
            </a:pPr>
            <a:r>
              <a:t>  ┌────────────────────────────────────────────────────────────────┐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latin typeface="Consolas"/>
              </a:defRPr>
            </a:pPr>
            <a:r>
              <a:t>  │                    SQL SERVER DATABASE                         │</a:t>
            </a:r>
          </a:p>
          <a:p>
            <a:pPr>
              <a:defRPr sz="1100">
                <a:latin typeface="Consolas"/>
              </a:defRPr>
            </a:pPr>
            <a:r>
              <a:t>  │  ┌──────────────┐  ┌──────────────┐  ┌──────────────┐         │</a:t>
            </a:r>
          </a:p>
          <a:p>
            <a:pPr>
              <a:defRPr sz="1100">
                <a:latin typeface="Consolas"/>
              </a:defRPr>
            </a:pPr>
            <a:r>
              <a:t>  │  │TRANSACTIONAL │  │  REFERENCE   │  │    AUDIT     │         │</a:t>
            </a:r>
          </a:p>
          <a:p>
            <a:pPr>
              <a:defRPr sz="1100">
                <a:latin typeface="Consolas"/>
              </a:defRPr>
            </a:pPr>
            <a:r>
              <a:t>  │  │• bookings    │  │• locations   │  │• audit_log   │         │</a:t>
            </a:r>
          </a:p>
          <a:p>
            <a:pPr>
              <a:defRPr sz="1100">
                <a:latin typeface="Consolas"/>
              </a:defRPr>
            </a:pPr>
            <a:r>
              <a:t>  │  │• booking_*   │  │• carriers    │  │• status_hist │         │</a:t>
            </a:r>
          </a:p>
          <a:p>
            <a:pPr>
              <a:defRPr sz="1100">
                <a:latin typeface="Consolas"/>
              </a:defRPr>
            </a:pPr>
            <a:r>
              <a:t>  │  │• customers   │  │• commodities │  │• edi_log     │         │</a:t>
            </a:r>
          </a:p>
          <a:p>
            <a:pPr>
              <a:defRPr sz="1100">
                <a:latin typeface="Consolas"/>
              </a:defRPr>
            </a:pPr>
            <a:r>
              <a:t>  │  │• approvals   │  │• containers  │  │              │         │</a:t>
            </a:r>
          </a:p>
          <a:p>
            <a:pPr>
              <a:defRPr sz="1100">
                <a:latin typeface="Consolas"/>
              </a:defRPr>
            </a:pPr>
            <a:r>
              <a:t>  │  └──────────────┘  └──────────────┘  └──────────────┘         │</a:t>
            </a:r>
          </a:p>
          <a:p>
            <a:pPr>
              <a:defRPr sz="1100">
                <a:latin typeface="Consolas"/>
              </a:defRPr>
            </a:pPr>
            <a:r>
              <a:t>  │  ┌─────────────────────────────────────────────────────┐      │</a:t>
            </a:r>
          </a:p>
          <a:p>
            <a:pPr>
              <a:defRPr sz="1100">
                <a:latin typeface="Consolas"/>
              </a:defRPr>
            </a:pPr>
            <a:r>
              <a:t>  │  │                   EDI TABLES                         │      │</a:t>
            </a:r>
          </a:p>
          <a:p>
            <a:pPr>
              <a:defRPr sz="1100">
                <a:latin typeface="Consolas"/>
              </a:defRPr>
            </a:pPr>
            <a:r>
              <a:t>  │  │ • edi_partners  • edi_outbound_queue  • edi_trans   │      │</a:t>
            </a:r>
          </a:p>
          <a:p>
            <a:pPr>
              <a:defRPr sz="1100">
                <a:latin typeface="Consolas"/>
              </a:defRPr>
            </a:pPr>
            <a:r>
              <a:t>  │  └─────────────────────────────────────────────────────┘      │</a:t>
            </a:r>
          </a:p>
          <a:p>
            <a:pPr>
              <a:defRPr sz="1100">
                <a:latin typeface="Consolas"/>
              </a:defRPr>
            </a:pPr>
            <a:r>
              <a:t>  └────────────────────────────────────────────────────────────────┘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┌────────────────────────────┐  ┌────────────────────────────┐</a:t>
            </a:r>
          </a:p>
          <a:p>
            <a:pPr>
              <a:defRPr sz="1100">
                <a:latin typeface="Consolas"/>
              </a:defRPr>
            </a:pPr>
            <a:r>
              <a:t>  │    AZURE BLOB STORAGE      │  │    REDIS (MESSAGE QUEUE)   │</a:t>
            </a:r>
          </a:p>
          <a:p>
            <a:pPr>
              <a:defRPr sz="1100">
                <a:latin typeface="Consolas"/>
              </a:defRPr>
            </a:pPr>
            <a:r>
              <a:t>  │ /documents/{booking}/      │  │ • email_notifications      │</a:t>
            </a:r>
          </a:p>
          <a:p>
            <a:pPr>
              <a:defRPr sz="1100">
                <a:latin typeface="Consolas"/>
              </a:defRPr>
            </a:pPr>
            <a:r>
              <a:t>  │ /edi/outbound/             │  │ • edi_outbound             │</a:t>
            </a:r>
          </a:p>
          <a:p>
            <a:pPr>
              <a:defRPr sz="1100">
                <a:latin typeface="Consolas"/>
              </a:defRPr>
            </a:pPr>
            <a:r>
              <a:t>  │ /edi/inbound/              │  │ • edi_inbound              │</a:t>
            </a:r>
          </a:p>
          <a:p>
            <a:pPr>
              <a:defRPr sz="1100">
                <a:latin typeface="Consolas"/>
              </a:defRPr>
            </a:pPr>
            <a:r>
              <a:t>  └────────────────────────────┘  └────────────────────────────┘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Mapping: Internal → EDI X12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                BOOKING DATA → EDI X12 300 MAPPING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  Internal Model                    EDI X12 300 Segment</a:t>
            </a:r>
          </a:p>
          <a:p>
            <a:pPr>
              <a:defRPr sz="1200">
                <a:latin typeface="Consolas"/>
              </a:defRPr>
            </a:pPr>
            <a:r>
              <a:t>  ═══════════════════════════════════════════════════════════════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  bookings.booking_number      →    B1-02 (Reservation Number)</a:t>
            </a:r>
          </a:p>
          <a:p>
            <a:pPr>
              <a:defRPr sz="1200">
                <a:latin typeface="Consolas"/>
              </a:defRPr>
            </a:pPr>
            <a:r>
              <a:t>  bookings.cargo_ready_date    →    DTM-02 where DTM-01 = "140"</a:t>
            </a:r>
          </a:p>
          <a:p>
            <a:pPr>
              <a:defRPr sz="1200">
                <a:latin typeface="Consolas"/>
              </a:defRPr>
            </a:pPr>
            <a:r>
              <a:t>  bookings.estimated_departure →    DTM-02 where DTM-01 = "370"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  customers.name               →    N1-02 where N1-01 = "SH"</a:t>
            </a:r>
          </a:p>
          <a:p>
            <a:pPr>
              <a:defRPr sz="1200">
                <a:latin typeface="Consolas"/>
              </a:defRPr>
            </a:pPr>
            <a:r>
              <a:t>  customers.address_line1      →    N3-01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  locations.code (origin)      →    R4-02 where R4-01 = "L" (POL)</a:t>
            </a:r>
          </a:p>
          <a:p>
            <a:pPr>
              <a:defRPr sz="1200">
                <a:latin typeface="Consolas"/>
              </a:defRPr>
            </a:pPr>
            <a:r>
              <a:t>  locations.code (destination) →    R4-02 where R4-01 = "D" (POD)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  booking_ocean_fcl.vessel     →    V1-02 (Vessel Name)</a:t>
            </a:r>
          </a:p>
          <a:p>
            <a:pPr>
              <a:defRPr sz="1200">
                <a:latin typeface="Consolas"/>
              </a:defRPr>
            </a:pPr>
            <a:r>
              <a:t>  booking_containers.type      →    Y2-01 (Equipment Type)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  booking_items.commodity_desc →    L5-01 (Description)</a:t>
            </a:r>
          </a:p>
          <a:p>
            <a:pPr>
              <a:defRPr sz="1200">
                <a:latin typeface="Consolas"/>
              </a:defRPr>
            </a:pPr>
            <a:r>
              <a:t>  booking_items.gross_weight   →    L0-04 (Weight)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Freight Booking Management System - Data Flow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